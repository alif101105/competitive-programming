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Tahoma"/>
      <p:regular r:id="rId35"/>
      <p:bold r:id="rId36"/>
    </p:embeddedFont>
    <p:embeddedFont>
      <p:font typeface="Helvetica Neu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512CA-A84D-4B70-983F-C716287F2397}">
  <a:tblStyle styleId="{C06512CA-A84D-4B70-983F-C716287F23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AF1"/>
          </a:solidFill>
        </a:fill>
      </a:tcStyle>
    </a:wholeTbl>
    <a:band1H>
      <a:tcTxStyle/>
      <a:tcStyle>
        <a:fill>
          <a:solidFill>
            <a:srgbClr val="CED2E2"/>
          </a:solidFill>
        </a:fill>
      </a:tcStyle>
    </a:band1H>
    <a:band2H>
      <a:tcTxStyle/>
    </a:band2H>
    <a:band1V>
      <a:tcTxStyle/>
      <a:tcStyle>
        <a:fill>
          <a:solidFill>
            <a:srgbClr val="CED2E2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330B4B5D-ADE1-48E1-8555-1819AA2BAC4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Tahoma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HelveticaNeue-regular.fntdata"/><Relationship Id="rId14" Type="http://schemas.openxmlformats.org/officeDocument/2006/relationships/slide" Target="slides/slide8.xml"/><Relationship Id="rId36" Type="http://schemas.openxmlformats.org/officeDocument/2006/relationships/font" Target="fonts/Tahoma-bold.fntdata"/><Relationship Id="rId17" Type="http://schemas.openxmlformats.org/officeDocument/2006/relationships/slide" Target="slides/slide11.xml"/><Relationship Id="rId39" Type="http://schemas.openxmlformats.org/officeDocument/2006/relationships/font" Target="fonts/HelveticaNeue-italic.fntdata"/><Relationship Id="rId16" Type="http://schemas.openxmlformats.org/officeDocument/2006/relationships/slide" Target="slides/slide10.xml"/><Relationship Id="rId38" Type="http://schemas.openxmlformats.org/officeDocument/2006/relationships/font" Target="fonts/HelveticaNeue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ba8264921b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2ba8264921b_0_6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ba8264921b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2ba8264921b_0_8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a6a8da0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a6a8da0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a6a8da0b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ea6a8da0b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a6a8da0b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a6a8da0b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ba8264921b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2ba8264921b_0_8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ba8264921b_0_8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2ba8264921b_0_8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a8264921b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2ba8264921b_0_8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bab45ae9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bab45ae98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ba8264921b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ba8264921b_0_8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a8264921b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2ba8264921b_0_8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ba8264921b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2ba8264921b_0_8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ba8264921b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2ba8264921b_0_8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ba8264921b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ba8264921b_0_8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ba8264921b_0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2ba8264921b_0_88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ab45ae98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bab45ae98e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a8264921b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2ba8264921b_0_8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a8264921b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ba8264921b_0_9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ba8264921b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2ba8264921b_0_9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ba8264921b_0_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2ba8264921b_0_9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a8264921b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2ba8264921b_0_9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ba8264921b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2ba8264921b_0_9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ba8264921b_0_9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2ba8264921b_0_9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2ba8264921b_0_9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ba8264921b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2ba8264921b_0_9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bab45ae9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2bab45ae98e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bab45ae98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2bab45ae98e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ba8264921b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ba8264921b_0_9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84163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" name="Google Shape;52;p13"/>
          <p:cNvGrpSpPr/>
          <p:nvPr/>
        </p:nvGrpSpPr>
        <p:grpSpPr>
          <a:xfrm>
            <a:off x="284163" y="1183385"/>
            <a:ext cx="8576301" cy="103050"/>
            <a:chOff x="284163" y="1577847"/>
            <a:chExt cx="8576301" cy="137400"/>
          </a:xfrm>
        </p:grpSpPr>
        <p:sp>
          <p:nvSpPr>
            <p:cNvPr id="53" name="Google Shape;53;p13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13"/>
          <p:cNvSpPr txBox="1"/>
          <p:nvPr>
            <p:ph type="title"/>
          </p:nvPr>
        </p:nvSpPr>
        <p:spPr>
          <a:xfrm>
            <a:off x="284163" y="472787"/>
            <a:ext cx="8574000" cy="7260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781503" y="1600200"/>
            <a:ext cx="70767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69" lvl="1" marL="914400" rtl="0" algn="l">
              <a:spcBef>
                <a:spcPts val="12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69" lvl="2" marL="1371600" rtl="0" algn="l">
              <a:spcBef>
                <a:spcPts val="12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69" lvl="3" marL="1828800" rtl="0" algn="l">
              <a:spcBef>
                <a:spcPts val="12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2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2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2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2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200"/>
              </a:spcBef>
              <a:spcAft>
                <a:spcPts val="12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794936" y="482777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199698" y="4827774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2053800" y="987000"/>
            <a:ext cx="50364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CSE181 </a:t>
            </a:r>
            <a:b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Lecture: 1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Md. Asiful Islam Miah</a:t>
            </a:r>
            <a:endParaRPr b="1"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280826"/>
            <a:ext cx="85206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952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4999"/>
              <a:buFont typeface="Corbel"/>
              <a:buNone/>
            </a:pPr>
            <a:r>
              <a:rPr lang="en" sz="4000"/>
              <a:t>Lecture Outline</a:t>
            </a:r>
            <a:endParaRPr sz="4000"/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2" y="910822"/>
            <a:ext cx="87072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80"/>
              <a:buFont typeface="Noto Sans Symbols"/>
              <a:buNone/>
            </a:pPr>
            <a:r>
              <a:rPr b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1.1 Propositional Logic 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Variables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Compound Propositions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Value &amp; Truth Table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Truth Tables of Compound Propositions (next class)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Conditional Statements (next class)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-267970" lvl="0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700"/>
              <a:buFont typeface="Calibri"/>
              <a:buChar char="•"/>
            </a:pPr>
            <a:r>
              <a:rPr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 and Bit Operations (next class)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11430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 b="1"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880"/>
              <a:buFont typeface="Noto Sans Symbols"/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0" y="435053"/>
            <a:ext cx="85206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Objectives and Outcomes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21341" y="1555845"/>
            <a:ext cx="8395200" cy="18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08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To understand the importance of logic in mathematical reasoning,  to understand proposition and propositional logic, symbol and usage of different types of logical operators.</a:t>
            </a:r>
            <a:endParaRPr sz="1800"/>
          </a:p>
          <a:p>
            <a:pPr indent="-2108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Outcomes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Students are expected to be able to apply logical operators and analyze logical propositions via truth tables, be able to construct  a truth table for a given compound proposition.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388" y="152400"/>
            <a:ext cx="8087225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613" y="218125"/>
            <a:ext cx="75947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775" y="152400"/>
            <a:ext cx="726645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0" y="458175"/>
            <a:ext cx="85206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rbel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Key Terms 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311693" y="1511524"/>
            <a:ext cx="80328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" sz="20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Logic: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Logic is the discipline that deals with the  methods of reasoning. </a:t>
            </a:r>
            <a:endParaRPr sz="2000"/>
          </a:p>
          <a:p>
            <a:pPr indent="-248919" lvl="2" marL="7315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 is the basis of all mathematical reasoning</a:t>
            </a:r>
            <a:endParaRPr sz="2000"/>
          </a:p>
          <a:p>
            <a:pPr indent="-248919" lvl="2" marL="7315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rules of logic specify the meaning of mathematical statements</a:t>
            </a:r>
            <a:endParaRPr sz="2000"/>
          </a:p>
          <a:p>
            <a:pPr indent="-160020" lvl="1" marL="2743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Propositional Logic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area of logic that deals with </a:t>
            </a:r>
            <a:r>
              <a:rPr b="1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called the propositional logic. </a:t>
            </a:r>
            <a:endParaRPr sz="2000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311700" y="558429"/>
            <a:ext cx="85206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Key Terms 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257565" y="1601730"/>
            <a:ext cx="82995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Noto Sans Symbols"/>
              <a:buChar char="▪"/>
            </a:pPr>
            <a:r>
              <a:rPr b="1" i="0" lang="en" sz="2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declarative statement that’s either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not both.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▪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Assigned one of the two distinct values, True and False or T and F.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▪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Denoted by p, q, r.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Statements that are 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propositions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/>
          </a:p>
          <a:p>
            <a:pPr indent="-248919" lvl="2" marL="7315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19" lvl="2" marL="7315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Commands </a:t>
            </a:r>
            <a:endParaRPr sz="2000"/>
          </a:p>
          <a:p>
            <a:pPr indent="-160020" lvl="1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0020" lvl="1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335494" y="548372"/>
            <a:ext cx="65436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3600"/>
              <a:buFont typeface="Noto Sans Symbols"/>
              <a:buNone/>
            </a:pPr>
            <a:r>
              <a:rPr b="1" i="0" lang="en" sz="4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Key Terms</a:t>
            </a:r>
            <a:endParaRPr b="1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35495" y="1254739"/>
            <a:ext cx="8467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89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Propositional variable: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variable that represents a proposition. The conventional letters used for propositional variables are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p, q, r, s, t,..</a:t>
            </a:r>
            <a:endParaRPr sz="2000"/>
          </a:p>
          <a:p>
            <a:pPr indent="-2489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Compound proposition: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proposition constructed by combining two or more propositions using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 connectives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/>
          </a:p>
          <a:p>
            <a:pPr indent="-2489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Operators used to combine propositions</a:t>
            </a:r>
            <a:endParaRPr sz="2000"/>
          </a:p>
          <a:p>
            <a:pPr indent="-2489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Truth Value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truth value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 proposition is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if it is a true statement and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if it is a false statement.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Value ==&gt;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True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False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Truth Table: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table displaying the truth values of propositions. </a:t>
            </a:r>
            <a:endParaRPr sz="2000"/>
          </a:p>
        </p:txBody>
      </p:sp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284163" y="472787"/>
            <a:ext cx="8574000" cy="7260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rbel"/>
              <a:buNone/>
            </a:pPr>
            <a:br>
              <a:rPr b="1" lang="en" sz="4000"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Proposition: Examples</a:t>
            </a:r>
            <a:br>
              <a:rPr b="1"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284175" y="1524175"/>
            <a:ext cx="85740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Propositions: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integer 20 is a Prime.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Dhaka is the capital city of Bangladesh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Not </a:t>
            </a: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Propositions</a:t>
            </a: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your name ?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Solve the problem.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Karim a good boy?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284163" y="472787"/>
            <a:ext cx="8574000" cy="7260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orbel"/>
              <a:buNone/>
            </a:pPr>
            <a:br>
              <a:rPr b="1" lang="en" sz="4000"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Proposition: Examples</a:t>
            </a:r>
            <a:br>
              <a:rPr b="1"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2" name="Google Shape;132;p24"/>
          <p:cNvGraphicFramePr/>
          <p:nvPr/>
        </p:nvGraphicFramePr>
        <p:xfrm>
          <a:off x="533400" y="1568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{C06512CA-A84D-4B70-983F-C716287F2397}</a:tableStyleId>
              </a:tblPr>
              <a:tblGrid>
                <a:gridCol w="4076700"/>
                <a:gridCol w="4076700"/>
              </a:tblGrid>
              <a:tr h="581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0000"/>
                          </a:solidFill>
                        </a:rPr>
                        <a:t>Proposition</a:t>
                      </a:r>
                      <a:endParaRPr b="1" sz="1800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FF0000"/>
                          </a:solidFill>
                        </a:rPr>
                        <a:t>Not Proposition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91450" marL="91450">
                    <a:solidFill>
                      <a:srgbClr val="D8D8D8"/>
                    </a:solidFill>
                  </a:tcPr>
                </a:tc>
              </a:tr>
              <a:tr h="543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mic Sans MS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 + 2 = 32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mic Sans MS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Bring me coffee!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T="34300" marB="34300" marR="91450" marL="91450"/>
                </a:tc>
              </a:tr>
              <a:tr h="54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</a:t>
                      </a:r>
                      <a:r>
                        <a:rPr lang="en" sz="1800"/>
                        <a:t> + 2 = 5</a:t>
                      </a:r>
                      <a:endParaRPr sz="18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mic Sans MS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3 + 2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T="34300" marB="34300" marR="91450" marL="91450"/>
                </a:tc>
              </a:tr>
              <a:tr h="543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CSE 181  is Karim’s favorite class.</a:t>
                      </a:r>
                      <a:endParaRPr sz="18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" sz="1800"/>
                        <a:t>CSE 181 i</a:t>
                      </a:r>
                      <a:r>
                        <a:rPr lang="en" sz="1800"/>
                        <a:t>s his favorite class.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34300" marB="34300" marR="91450" marL="91450"/>
                </a:tc>
              </a:tr>
              <a:tr h="87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Every cow has four</a:t>
                      </a:r>
                      <a:r>
                        <a:rPr lang="en" sz="1800"/>
                        <a:t> legs.</a:t>
                      </a:r>
                      <a:endParaRPr sz="18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mic Sans MS"/>
                        <a:buNone/>
                      </a:pPr>
                      <a:r>
                        <a:rPr b="0" i="0" lang="en" sz="1800" u="none" cap="none" strike="noStrike">
                          <a:solidFill>
                            <a:schemeClr val="dk1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Do you like Cake?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 </a:t>
                      </a:r>
                      <a:endParaRPr sz="18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133" name="Google Shape;133;p24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284163" y="472787"/>
            <a:ext cx="8574000" cy="7260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rbel"/>
              <a:buNone/>
            </a:pPr>
            <a:r>
              <a:rPr b="1" lang="en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14149" y="1600200"/>
            <a:ext cx="82440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38315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90000"/>
              <a:buFont typeface="Arial"/>
              <a:buChar char="•"/>
            </a:pPr>
            <a:r>
              <a:rPr b="1" lang="en" sz="2800">
                <a:solidFill>
                  <a:srgbClr val="FF0000"/>
                </a:solidFill>
              </a:rPr>
              <a:t>Logical Operators </a:t>
            </a:r>
            <a:r>
              <a:rPr lang="en" sz="2800">
                <a:solidFill>
                  <a:srgbClr val="FF0000"/>
                </a:solidFill>
              </a:rPr>
              <a:t>==&gt; </a:t>
            </a:r>
            <a:r>
              <a:rPr b="1" lang="en" sz="2800">
                <a:solidFill>
                  <a:srgbClr val="FF0000"/>
                </a:solidFill>
              </a:rPr>
              <a:t>unary</a:t>
            </a:r>
            <a:r>
              <a:rPr lang="en" sz="2800">
                <a:solidFill>
                  <a:srgbClr val="FF0000"/>
                </a:solidFill>
              </a:rPr>
              <a:t>, </a:t>
            </a:r>
            <a:r>
              <a:rPr b="1" lang="en" sz="2800">
                <a:solidFill>
                  <a:srgbClr val="FF0000"/>
                </a:solidFill>
              </a:rPr>
              <a:t>binary</a:t>
            </a:r>
            <a:endParaRPr/>
          </a:p>
          <a:p>
            <a:pPr indent="-238315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90000"/>
              <a:buFont typeface="Arial"/>
              <a:buChar char="•"/>
            </a:pPr>
            <a:r>
              <a:rPr b="1" lang="en" sz="2800" u="sng">
                <a:solidFill>
                  <a:srgbClr val="0000FF"/>
                </a:solidFill>
              </a:rPr>
              <a:t>Unary</a:t>
            </a:r>
            <a:r>
              <a:rPr lang="en" sz="2800"/>
              <a:t>: 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Negation</a:t>
            </a:r>
            <a:endParaRPr/>
          </a:p>
          <a:p>
            <a:pPr indent="-238315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ct val="90000"/>
              <a:buFont typeface="Arial"/>
              <a:buChar char="•"/>
            </a:pPr>
            <a:r>
              <a:rPr b="1" lang="en" sz="2800" u="sng">
                <a:solidFill>
                  <a:srgbClr val="0000FF"/>
                </a:solidFill>
              </a:rPr>
              <a:t>Binary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Conjunction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Disjunction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Exclusive OR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Conditional/Implication</a:t>
            </a:r>
            <a:endParaRPr/>
          </a:p>
          <a:p>
            <a:pPr indent="-243458" lvl="2" marL="62039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62626"/>
              </a:buClr>
              <a:buSzPct val="90000"/>
              <a:buFont typeface="Arial"/>
              <a:buChar char="•"/>
            </a:pPr>
            <a:r>
              <a:rPr lang="en" sz="2400"/>
              <a:t>Bi-conditional</a:t>
            </a:r>
            <a:endParaRPr/>
          </a:p>
          <a:p>
            <a:pPr indent="-114300" lvl="0" marL="274320" rtl="0" algn="l">
              <a:spcBef>
                <a:spcPts val="600"/>
              </a:spcBef>
              <a:spcAft>
                <a:spcPts val="1200"/>
              </a:spcAft>
              <a:buClr>
                <a:srgbClr val="262626"/>
              </a:buClr>
              <a:buSzPct val="90000"/>
              <a:buFont typeface="Arial"/>
              <a:buNone/>
            </a:pPr>
            <a:r>
              <a:t/>
            </a:r>
            <a:endParaRPr sz="2800"/>
          </a:p>
        </p:txBody>
      </p:sp>
      <p:sp>
        <p:nvSpPr>
          <p:cNvPr id="140" name="Google Shape;140;p25"/>
          <p:cNvSpPr txBox="1"/>
          <p:nvPr>
            <p:ph idx="12" type="sldNum"/>
          </p:nvPr>
        </p:nvSpPr>
        <p:spPr>
          <a:xfrm>
            <a:off x="8306459" y="125510"/>
            <a:ext cx="630600" cy="269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/>
        </p:nvSpPr>
        <p:spPr>
          <a:xfrm>
            <a:off x="335494" y="507741"/>
            <a:ext cx="7116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3240"/>
              <a:buFont typeface="Noto Sans Symbols"/>
              <a:buNone/>
            </a:pPr>
            <a:r>
              <a:rPr b="1" i="0" lang="en" sz="3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Logical Operators: Symbols &amp; Usage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26"/>
          <p:cNvGraphicFramePr/>
          <p:nvPr/>
        </p:nvGraphicFramePr>
        <p:xfrm>
          <a:off x="968991" y="13707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{330B4B5D-ADE1-48E1-8555-1819AA2BAC4C}</a:tableStyleId>
              </a:tblPr>
              <a:tblGrid>
                <a:gridCol w="2737000"/>
                <a:gridCol w="1759150"/>
                <a:gridCol w="2191275"/>
              </a:tblGrid>
              <a:tr h="340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1" i="0" lang="en" sz="21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Operator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1" i="0" lang="en" sz="21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Symbol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1" i="0" lang="en" sz="2100" u="none" cap="none" strike="noStrike">
                          <a:solidFill>
                            <a:srgbClr val="0000FF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Usage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Negation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¬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NOT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Conjunction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∧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AND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Disjunction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∨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OR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Exclusive or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⊕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XOR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Conditional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→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        if, then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Bi-conditional</a:t>
                      </a:r>
                      <a:endParaRPr sz="1100"/>
                    </a:p>
                  </a:txBody>
                  <a:tcPr marT="34300" marB="34300" marR="91450" marL="91450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3000"/>
                        <a:buFont typeface="Tahoma"/>
                        <a:buNone/>
                      </a:pPr>
                      <a:r>
                        <a:rPr b="1" i="0" lang="en" sz="30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↔</a:t>
                      </a:r>
                      <a:endParaRPr sz="1100"/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100"/>
                        <a:buFont typeface="Tahoma"/>
                        <a:buNone/>
                      </a:pPr>
                      <a:r>
                        <a:rPr b="0" i="0" lang="en" sz="2100" u="none" cap="none" strike="noStrik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iff</a:t>
                      </a:r>
                      <a:endParaRPr b="0" i="0" sz="2100" u="none" cap="none" strike="noStrike">
                        <a:solidFill>
                          <a:schemeClr val="dk1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335493" y="446324"/>
            <a:ext cx="68979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3240"/>
              <a:buFont typeface="Noto Sans Symbols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Propositional Logic : Negation 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361732" y="1352128"/>
            <a:ext cx="80649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a proposition. The </a:t>
            </a:r>
            <a:r>
              <a:rPr b="0" i="1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negation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of </a:t>
            </a:r>
            <a:r>
              <a:rPr b="0" i="1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1" i="0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¬</a:t>
            </a:r>
            <a:r>
              <a:rPr b="1" i="1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the statement </a:t>
            </a:r>
            <a:r>
              <a:rPr b="0" i="0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“It is not the case that </a:t>
            </a:r>
            <a:r>
              <a:rPr b="0" i="1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8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proposition </a:t>
            </a:r>
            <a:r>
              <a:rPr b="0" i="0" lang="en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¬</a:t>
            </a:r>
            <a:r>
              <a:rPr b="0" i="1" lang="en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read “</a:t>
            </a:r>
            <a:r>
              <a:rPr b="0" i="1" lang="en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p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truth value of the negation of 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¬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opposite of the truth value of </a:t>
            </a:r>
            <a:r>
              <a:rPr b="0" i="1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ctrTitle"/>
          </p:nvPr>
        </p:nvSpPr>
        <p:spPr>
          <a:xfrm>
            <a:off x="311700" y="301250"/>
            <a:ext cx="85206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lvetica Neue"/>
              <a:buNone/>
            </a:pPr>
            <a:r>
              <a:rPr lang="en" sz="3600">
                <a:latin typeface="Helvetica Neue"/>
                <a:ea typeface="Helvetica Neue"/>
                <a:cs typeface="Helvetica Neue"/>
                <a:sym typeface="Helvetica Neue"/>
              </a:rPr>
              <a:t>Propositional Logic : </a:t>
            </a:r>
            <a:r>
              <a:rPr b="1" lang="en" sz="3600">
                <a:latin typeface="Helvetica Neue"/>
                <a:ea typeface="Helvetica Neue"/>
                <a:cs typeface="Helvetica Neue"/>
                <a:sym typeface="Helvetica Neue"/>
              </a:rPr>
              <a:t>Negation</a:t>
            </a:r>
            <a:endParaRPr sz="3600"/>
          </a:p>
        </p:txBody>
      </p:sp>
      <p:sp>
        <p:nvSpPr>
          <p:cNvPr id="160" name="Google Shape;160;p28"/>
          <p:cNvSpPr/>
          <p:nvPr/>
        </p:nvSpPr>
        <p:spPr>
          <a:xfrm>
            <a:off x="311700" y="969050"/>
            <a:ext cx="7888500" cy="41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Negation just turns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proposition to </a:t>
            </a:r>
            <a:r>
              <a:rPr b="1" i="1" lang="en" sz="20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and the opposite for a true proposition.</a:t>
            </a:r>
            <a:endParaRPr b="0" i="0" sz="200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2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" sz="22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Example1</a:t>
            </a:r>
            <a:r>
              <a:rPr b="0" i="0" lang="en" sz="2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am going to town.</a:t>
            </a:r>
            <a:endParaRPr sz="2200"/>
          </a:p>
          <a:p>
            <a:pPr indent="-274320" lvl="2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¬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 am not going to town. ; </a:t>
            </a:r>
            <a:r>
              <a:rPr b="0" i="0" lang="en" sz="22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200"/>
          </a:p>
          <a:p>
            <a:pPr indent="-274320" lvl="2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It is not the case that I am going to town.</a:t>
            </a:r>
            <a:endParaRPr sz="2200"/>
          </a:p>
          <a:p>
            <a:pPr indent="-236220" lvl="0" marL="2743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Arial"/>
              <a:buChar char="•"/>
            </a:pPr>
            <a:r>
              <a:rPr b="0" i="0" lang="en" sz="22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Example2:</a:t>
            </a:r>
            <a:r>
              <a:rPr b="0" i="0" lang="en" sz="2200" u="none" cap="none" strike="noStrike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: 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“23 = 15 +7”</a:t>
            </a:r>
            <a:endParaRPr sz="2200"/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" sz="2200" u="none" cap="none" strike="noStrike">
                <a:solidFill>
                  <a:srgbClr val="FF33CC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happens to be false, so </a:t>
            </a:r>
            <a:r>
              <a:rPr b="1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true.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2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en" sz="22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Example3</a:t>
            </a:r>
            <a:r>
              <a:rPr lang="e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i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 is divisible by 3.</a:t>
            </a:r>
            <a:endParaRPr sz="2200">
              <a:solidFill>
                <a:schemeClr val="dk1"/>
              </a:solidFill>
            </a:endParaRPr>
          </a:p>
          <a:p>
            <a:pPr indent="-274320" lvl="2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¬ </a:t>
            </a:r>
            <a:r>
              <a:rPr i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9 is not divisible by 3.; </a:t>
            </a:r>
            <a:r>
              <a:rPr lang="en" sz="22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2200">
              <a:solidFill>
                <a:schemeClr val="dk1"/>
              </a:solidFill>
            </a:endParaRPr>
          </a:p>
          <a:p>
            <a:pPr indent="-274320" lvl="2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It is not the case that 9 is divisible by 3.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ctrTitle"/>
          </p:nvPr>
        </p:nvSpPr>
        <p:spPr>
          <a:xfrm>
            <a:off x="311700" y="284375"/>
            <a:ext cx="8520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Truth table for Negation of a Proposition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01_1_001" id="167" name="Google Shape;16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408" y="1005635"/>
            <a:ext cx="6235180" cy="313222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 txBox="1"/>
          <p:nvPr/>
        </p:nvSpPr>
        <p:spPr>
          <a:xfrm>
            <a:off x="2541900" y="4254075"/>
            <a:ext cx="4191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4320" lvl="2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 </a:t>
            </a:r>
            <a:r>
              <a:rPr b="1" i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¬ </a:t>
            </a:r>
            <a:r>
              <a:rPr b="1" i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p) </a:t>
            </a:r>
            <a:r>
              <a:rPr b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logically equivalent to </a:t>
            </a:r>
            <a:r>
              <a:rPr b="1" i="1"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.</a:t>
            </a:r>
            <a:endParaRPr b="1" i="1" sz="2000">
              <a:solidFill>
                <a:schemeClr val="dk2"/>
              </a:solidFill>
            </a:endParaRPr>
          </a:p>
        </p:txBody>
      </p:sp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ctrTitle"/>
          </p:nvPr>
        </p:nvSpPr>
        <p:spPr>
          <a:xfrm>
            <a:off x="311700" y="284375"/>
            <a:ext cx="85206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375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orbel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Compound</a:t>
            </a: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 Proposition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502650" y="1410025"/>
            <a:ext cx="81387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proposition constructed by combining two or more propositions using </a:t>
            </a:r>
            <a:r>
              <a:rPr i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</a:t>
            </a:r>
            <a:r>
              <a:rPr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operators</a:t>
            </a:r>
            <a:r>
              <a:rPr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i="1" lang="en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logical connectives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Disjunction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Exclusive Disjunction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2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2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ctrTitle"/>
          </p:nvPr>
        </p:nvSpPr>
        <p:spPr>
          <a:xfrm>
            <a:off x="311700" y="163950"/>
            <a:ext cx="85206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Helvetica Neue"/>
              <a:buNone/>
            </a:pPr>
            <a:r>
              <a:rPr b="1" lang="en" sz="4000">
                <a:latin typeface="Helvetica Neue"/>
                <a:ea typeface="Helvetica Neue"/>
                <a:cs typeface="Helvetica Neue"/>
                <a:sym typeface="Helvetica Neue"/>
              </a:rPr>
              <a:t>Conjunction</a:t>
            </a:r>
            <a:endParaRPr sz="4000"/>
          </a:p>
        </p:txBody>
      </p:sp>
      <p:sp>
        <p:nvSpPr>
          <p:cNvPr id="182" name="Google Shape;182;p31"/>
          <p:cNvSpPr/>
          <p:nvPr/>
        </p:nvSpPr>
        <p:spPr>
          <a:xfrm>
            <a:off x="311700" y="892153"/>
            <a:ext cx="8270700" cy="3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propositions. The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conjunction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∧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the proposition “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 </a:t>
            </a:r>
            <a:endParaRPr sz="2000"/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conjunction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∧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true when both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are true and is false otherwise. </a:t>
            </a:r>
            <a:endParaRPr sz="2000"/>
          </a:p>
          <a:p>
            <a:pPr indent="-2235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Conjunction corresponds to English “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sz="2000"/>
          </a:p>
          <a:p>
            <a:pPr indent="0" lvl="0" marL="177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Font typeface="Arial"/>
              <a:buChar char="•"/>
            </a:pPr>
            <a:r>
              <a:rPr b="0" i="0" lang="en" sz="20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: The boy prepare his lessons regularly.</a:t>
            </a: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q :  The boy helps his parents everyday.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p ∧ q :  The boy prepare his lessons regularly and helps his parents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everyday.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lang="en" sz="20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Lina is brilliant and helpful.</a:t>
            </a:r>
            <a:endParaRPr b="0" i="0" sz="2000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ctrTitle"/>
          </p:nvPr>
        </p:nvSpPr>
        <p:spPr>
          <a:xfrm>
            <a:off x="311700" y="558428"/>
            <a:ext cx="85206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Truth Table for Conjunction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01_1_002" id="189" name="Google Shape;1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525137"/>
            <a:ext cx="6095999" cy="30912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ctrTitle"/>
          </p:nvPr>
        </p:nvSpPr>
        <p:spPr>
          <a:xfrm>
            <a:off x="311700" y="558426"/>
            <a:ext cx="8520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Conjunction: Another Example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3"/>
          <p:cNvSpPr/>
          <p:nvPr/>
        </p:nvSpPr>
        <p:spPr>
          <a:xfrm>
            <a:off x="421341" y="1637731"/>
            <a:ext cx="82314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" sz="2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‘I am going to town’</a:t>
            </a:r>
            <a:endParaRPr sz="2000"/>
          </a:p>
          <a:p>
            <a:pPr indent="-274320" lvl="1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‘It is going to rain’</a:t>
            </a:r>
            <a:b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1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b="1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∧ </a:t>
            </a:r>
            <a:r>
              <a:rPr b="1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‘I am going to town and it is going to rain.’</a:t>
            </a:r>
            <a:b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1" marL="274320" marR="0" rtl="0" algn="l"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" sz="2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must be true to </a:t>
            </a:r>
            <a:r>
              <a:rPr b="1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∧ </a:t>
            </a:r>
            <a:r>
              <a:rPr b="1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</a:t>
            </a: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type="ctrTitle"/>
          </p:nvPr>
        </p:nvSpPr>
        <p:spPr>
          <a:xfrm>
            <a:off x="311700" y="195350"/>
            <a:ext cx="85206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Disjunction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4"/>
          <p:cNvSpPr/>
          <p:nvPr/>
        </p:nvSpPr>
        <p:spPr>
          <a:xfrm>
            <a:off x="797800" y="816650"/>
            <a:ext cx="8034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propositions. </a:t>
            </a:r>
            <a:endParaRPr sz="2000"/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disjunction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∨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is the proposition “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.”</a:t>
            </a:r>
            <a:endParaRPr sz="2000"/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disjunction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∨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q 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is false when both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are false and is true otherwise.</a:t>
            </a:r>
            <a:endParaRPr sz="2000"/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Disjunction is true when at least one of the components is true.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Disjunction corresponds to English “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1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: You can take physics this semester.</a:t>
            </a:r>
            <a:b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q :  You can take chemistry this semester.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p ∨ q :  You can take physics or chemistry this semester.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8920" lvl="1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" sz="2000" u="sng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Another Example:</a:t>
            </a: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Abdullah is brave OR intelligent.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ctrTitle"/>
          </p:nvPr>
        </p:nvSpPr>
        <p:spPr>
          <a:xfrm>
            <a:off x="311700" y="558426"/>
            <a:ext cx="85206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Truth Table for Disjunction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01_1_003" id="210" name="Google Shape;2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3999" y="1572641"/>
            <a:ext cx="5859440" cy="31256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type="ctrTitle"/>
          </p:nvPr>
        </p:nvSpPr>
        <p:spPr>
          <a:xfrm>
            <a:off x="455941" y="303880"/>
            <a:ext cx="78090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4545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br>
              <a:rPr lang="en" sz="3500">
                <a:latin typeface="Calibri"/>
                <a:ea typeface="Calibri"/>
                <a:cs typeface="Calibri"/>
                <a:sym typeface="Calibri"/>
              </a:rPr>
            </a:br>
            <a:br>
              <a:rPr lang="en" sz="3500">
                <a:latin typeface="Calibri"/>
                <a:ea typeface="Calibri"/>
                <a:cs typeface="Calibri"/>
                <a:sym typeface="Calibri"/>
              </a:rPr>
            </a:br>
            <a:r>
              <a:rPr lang="en" sz="3500">
                <a:latin typeface="Calibri"/>
                <a:ea typeface="Calibri"/>
                <a:cs typeface="Calibri"/>
                <a:sym typeface="Calibri"/>
              </a:rPr>
              <a:t>Examples of Conjunction &amp; Disjunction</a:t>
            </a:r>
            <a:endParaRPr sz="3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6"/>
          <p:cNvSpPr/>
          <p:nvPr/>
        </p:nvSpPr>
        <p:spPr>
          <a:xfrm>
            <a:off x="341189" y="1217672"/>
            <a:ext cx="80385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Let, </a:t>
            </a:r>
            <a:endParaRPr sz="2000"/>
          </a:p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 5 &lt; 9</a:t>
            </a:r>
            <a:endParaRPr sz="2000"/>
          </a:p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 9 &lt; 7.</a:t>
            </a:r>
            <a:endParaRPr sz="2000"/>
          </a:p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Construct the propositions 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∧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  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∨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i="0" sz="2000" u="sng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3050" lvl="0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sng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b="1" i="0" sz="20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1" marL="2730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conjunction of the propositions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proposition</a:t>
            </a:r>
            <a:endParaRPr sz="2000"/>
          </a:p>
          <a:p>
            <a:pPr indent="-273050" lvl="1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p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∧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 &lt; 9 and 9 &lt; 7</a:t>
            </a:r>
            <a:endParaRPr sz="2000"/>
          </a:p>
          <a:p>
            <a:pPr indent="-260350" lvl="1" marL="2730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disjunction of the propositions p and q is the proposition</a:t>
            </a:r>
            <a:endParaRPr sz="2000"/>
          </a:p>
          <a:p>
            <a:pPr indent="-273050" lvl="1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∨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5 &lt; 9 or 9 &lt; 7    </a:t>
            </a:r>
            <a:endParaRPr sz="2000"/>
          </a:p>
          <a:p>
            <a:pPr indent="-273050" lvl="1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sz="2000"/>
          </a:p>
          <a:p>
            <a:pPr indent="-273050" lvl="1" marL="2730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 What are the truth values of </a:t>
            </a:r>
            <a:r>
              <a:rPr b="1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∧ </a:t>
            </a:r>
            <a:r>
              <a:rPr b="1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∨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1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2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ctrTitle"/>
          </p:nvPr>
        </p:nvSpPr>
        <p:spPr>
          <a:xfrm>
            <a:off x="311700" y="558428"/>
            <a:ext cx="85206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Exclusive </a:t>
            </a:r>
            <a:r>
              <a:rPr b="1" lang="en" sz="4000">
                <a:latin typeface="Calibri"/>
                <a:ea typeface="Calibri"/>
                <a:cs typeface="Calibri"/>
                <a:sym typeface="Calibri"/>
              </a:rPr>
              <a:t>Disjunction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7"/>
          <p:cNvSpPr/>
          <p:nvPr/>
        </p:nvSpPr>
        <p:spPr>
          <a:xfrm>
            <a:off x="300256" y="1701951"/>
            <a:ext cx="8230200" cy="1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 propositions. </a:t>
            </a:r>
            <a:endParaRPr sz="2000"/>
          </a:p>
          <a:p>
            <a:pPr indent="-223520" lvl="0" marL="27432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exclusive or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of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denoted by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⊕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q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read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 or exclusive q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the proposition that is </a:t>
            </a:r>
            <a:r>
              <a:rPr b="1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when exactly one of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0" i="0" lang="en" sz="200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is true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is 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b="0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otherwise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ctrTitle"/>
          </p:nvPr>
        </p:nvSpPr>
        <p:spPr>
          <a:xfrm>
            <a:off x="311700" y="558425"/>
            <a:ext cx="8520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Truth Table of Exclusive </a:t>
            </a: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Disjunction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01_1_004" id="232" name="Google Shape;23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1607024"/>
            <a:ext cx="5562599" cy="2968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ctrTitle"/>
          </p:nvPr>
        </p:nvSpPr>
        <p:spPr>
          <a:xfrm>
            <a:off x="311700" y="558426"/>
            <a:ext cx="8520600" cy="6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Exclusive Disjunction</a:t>
            </a:r>
            <a:r>
              <a:rPr lang="en" sz="4000">
                <a:latin typeface="Calibri"/>
                <a:ea typeface="Calibri"/>
                <a:cs typeface="Calibri"/>
                <a:sym typeface="Calibri"/>
              </a:rPr>
              <a:t>: Example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9"/>
          <p:cNvSpPr/>
          <p:nvPr/>
        </p:nvSpPr>
        <p:spPr>
          <a:xfrm>
            <a:off x="421341" y="1637731"/>
            <a:ext cx="82314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520" lvl="0" marL="27432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Char char="•"/>
            </a:pPr>
            <a:r>
              <a:rPr b="1" i="0" lang="en" sz="2000" u="sng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r>
              <a:rPr b="1" i="0" lang="en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20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take tea.</a:t>
            </a:r>
            <a:endParaRPr sz="2000"/>
          </a:p>
          <a:p>
            <a:pPr indent="-274320" lvl="1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</a:t>
            </a:r>
            <a:r>
              <a:rPr b="0" i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take coffee.</a:t>
            </a:r>
            <a:b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p ⊕ q</a:t>
            </a:r>
            <a:r>
              <a:rPr b="1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take tea or coffee, but not both.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/>
          <p:nvPr/>
        </p:nvSpPr>
        <p:spPr>
          <a:xfrm>
            <a:off x="421341" y="1637731"/>
            <a:ext cx="82314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320" lvl="0" marL="27432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5125"/>
            <a:ext cx="9144001" cy="393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/>
        </p:nvSpPr>
        <p:spPr>
          <a:xfrm>
            <a:off x="2955600" y="2226600"/>
            <a:ext cx="3232800" cy="6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3240"/>
              <a:buFont typeface="Noto Sans Symbols"/>
              <a:buNone/>
            </a:pPr>
            <a:r>
              <a:rPr b="1" lang="en" sz="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5000"/>
          </a:p>
        </p:txBody>
      </p:sp>
      <p:sp>
        <p:nvSpPr>
          <p:cNvPr id="253" name="Google Shape;25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